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[ALLE / Person A eröffnet] ~30 Sek. Begrüßung. Hook: "Kryptografie gilt als trocken und abstrakt — Formeln, Wall of Text. Wir haben das Gegenteil gebaut: einen Hub, in dem man Krypto anfassen kann." Namen einsetzen statt [Name X]. Kurz das Team vorstellen, dann zu Person A für den Auftrag. Tipp: Browser mit der Live-Site schon im zweiten Tab offen haben.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A] ~1 Min. Kernbotschaft: Wir haben keinen Prototyp abgegeben, sondern ein fertiges, live erreichbares Produkt. Auf die Zahlen zeigen: 22 Lektionen allein für Krypto, mit echten Quellen, drei Lernpfaden. "Die Frage ist also nicht ob die Aufgabe erfüllt ist — sondern wie weit wir darüber hinausgegangen sind." Überleitung: "Damit das nicht nur eine Sammlung ist, haben wir einen roten Faden — drei Schutzziele."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A] ~1,5 Min. Das ist der wichtigste konzeptionelle Slide. Diese drei Fragen sind der rote Faden — jede Demo gleich hängt an genau einer Farbe. Langsam vorlesen: Vertraulichkeit = mitlesen, Integrität = verändern, Authentizität = mit wem. "Merkt euch die Farben — Blau, Grün, Rot. Die kommen gleich in der Demo wieder." Diese Farbcodierung ist auch im Produkt selbst durchgezogen (Info-/Warn-/Erfolgsboxen). Übergabe an Person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A → übergibt an B] ~1 Min. Kernidee: dasselbe Material bedient Anfänger UND Fortgeschrittene. Niemand muss sich durch 22 Lektionen quälen — man wählt seinen Einstieg. Das ist didaktisch bewusst so designt. Letzter Satz vor der Demo: "Genug Folien — schaut es euch live an." → Übergabe an Person B, Wechsel in den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B] ~6–8 Min — DAS HERZSTÜCK. WICHTIG: in den Browser wechseln und ECHT klicken, nicht nur die Folie zeigen. Reihenfolge: (0) Optionaler Hook: Häufigkeitsanalyse, Caesar knacken — zeigt 'naive Krypto ist gebrochen'. (1) AES: ein Zeichen ändern, IV-Effekt zeigen. (2) Diffie-Hellman: Farben-Analogie erzählen, Slider ziehen, betonen 'der Schlüssel wurde NIE übertragen'. (3) SHA-256: Avalanche live, ~94%. (4) Signaturen: signieren → manipulieren → rot. Bei JEDER Demo die Schutzziel-Farbe nennen (Blau/Grün/Rot). Fallback wenn Internet/Live-Site streikt: lokal 'npm run dev' vorab starten ODER Screen-Recording als Backup bereithalten. Zeit im Auge behalten — lieber 3 Demos richtig als 5 gehetzt.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B oder C] ~1,5 Min. Hier die Pädagogik begründen — Prof bewertet das didaktische Konzept stark. Im Idealfall LIVE zeigen: eine DepthBox aufklappen ('Wie funktioniert AES innen?') und eine QuelleBox (FIPS 197). 'So bedienen wir Anfänger und Fortgeschrittene mit demselben Material — der Lernende steuert seine Tiefe selbst.' KI-Review als modernes, aktives Lernelement hervorheben: nicht konsumieren, sondern produzieren und Feedback bekommen.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C] ~1,5 Min. Technik kompakt — nicht jede Zeile vorlesen, die stärksten 3 herausgreifen: (1) DB-frei = Inhalte als Code, in Git versioniert und reviewbar; (2) additive Architektur = Team kann parallel arbeiten ohne Konflikte; (3) Live-PR-Status als netter Twist. Mögliche Prof-Frage 'Warum keine Datenbank?' → kein Betriebsaufwand, alles versioniert, statisch deploybar, Inhalte werden wie Code reviewt. Wenn wenig Zeit: diesen Slide straffen, er ist Pflicht aber nicht der 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C] ~1,5 Min. Das ist euer Glaubwürdigkeits-Trumpf. Zwei Punkte: (1) Wir stützen jede Aussage auf Primärquellen — Standards und Originalpaper, nicht auf Blogposts. (2) Wir haben den Inhalt aktiv fachlich geprüft und zwei echte Fehler gefunden und korrigiert. Bleichenbacher-Beispiel ist ideal, falls der Prof Tiefe sehen will: die Signaturfälschung ist 2006 (e=3), nicht der 1998er Entschlüsselungs-Angriff (2017 als ROBOT wiederbelebt). Wer das sauber trennt, hat es verstanden. Selbstbewusst, aber nicht überheblich vortragen.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C] ~1 Min. Bewusst eingebaut — zeigt Reife und echtes Security-Verständnis. "Ein guter Krypto-Kurs sagt auch, wo Krypto aufhört." Diese Box gibt es so auch im Hub (Einleitung: 'Was Kryptografie NICHT löst'). Brücke zur IT-Security-Gesamtsicht: Verschlüsselung ist notwendig, aber nicht hinreichend — Endpunkt-Sicherheit, Metadaten-Schutz und der Faktor Mensch gehören dazu. Punktet fast immer beim Prüfer.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[Person A oder C] ~45 Sek. Kurz halten. Botschaft: Wir haben nicht nur eine Abgabe gebaut, sondern etwas, das weiterlebt. Krypto ist nur ein Thema von acht — die Architektur trägt beliebig viele. Die Submission-Pipeline senkt die Hürde für neue Inhalte. Dann direkt zum Abschluss-Slide überleiten.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[ALLE] Abschluss. Auf den Q&amp;A-Block vorbereitet sein — wahrscheinliche Fragen: (1) 'Warum keine DB?' → Inhalte als versionierter Code, statisch, reviewbar. (2) 'Habt ihr das selbst verstanden?' → Fact-Check-Story (2 Fehler gefunden &amp; behoben). (3) 'Warum Passwort = Schlüssel im AES-Demo?' → Demo-Vereinfachung, real KDF (PBKDF2/HKDF/Argon2), steht jetzt als Hinweis dran. (4) 'Privat verschlüsseln = signieren?' → Schul-Vereinfachung, der Hub relativiert sie selbst ('Verschlüsseln ≠ signieren'). Ruhig die Live-Site offen lassen, falls jemand etwas sehen 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92608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8686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0" y="57150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IT-SECURITY  ·  DIGITAL LEARNING HUB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Krypto Learning Hub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interaktiver Lernhub für Kryptografie — anfassen statt nur lesen.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2926080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89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 [Name 1]  ·  [Name 2]  ·  [Name 3]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 ·  auge2.jeremias-groehl.de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AUFTRAG &amp; ERGEBNIS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Auftrag ist erfüllt — und übererfüllt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0" cy="420624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206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 AUFTRAG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"Erstellt einen Digital Learning Hub zum Thema Kryptografie."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4160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Lerninhalte zu Krypto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&amp; zugänglich aufbereitet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zusammenhängender Hub, nicht als lose Seiten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577840" y="2011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 ERGEBNIS — live deployed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77840" y="2468880"/>
            <a:ext cx="2880360" cy="160020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77840" y="2468880"/>
            <a:ext cx="82296" cy="1600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5742432" y="26334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5760720" y="345643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interaktive Krypto-Lektionen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86800" y="2468880"/>
            <a:ext cx="2880360" cy="160020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0" y="2468880"/>
            <a:ext cx="82296" cy="1600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8851392" y="26334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869680" y="345643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Lernpfade je nach Vorwissen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577840" y="4297680"/>
            <a:ext cx="2880360" cy="160020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77840" y="4297680"/>
            <a:ext cx="82296" cy="160020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0" name="Text 18"/>
          <p:cNvSpPr/>
          <p:nvPr/>
        </p:nvSpPr>
        <p:spPr>
          <a:xfrm>
            <a:off x="5742432" y="44622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5760720" y="528523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wissenschaftliche Primärquellen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686800" y="4297680"/>
            <a:ext cx="2880360" cy="160020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686800" y="4297680"/>
            <a:ext cx="82296" cy="1600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8851392" y="44622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8869680" y="528523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 im Hub gesamt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ROTER FADEN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Schutzziele — die Spine des ganzen Hubs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630168" cy="41605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1605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08483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Vertraulichkeit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32688" y="288036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mitlesen?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32688" y="3886200"/>
            <a:ext cx="3044952" cy="0"/>
          </a:xfrm>
          <a:prstGeom prst="line">
            <a:avLst/>
          </a:prstGeom>
          <a:noFill/>
          <a:ln w="12700">
            <a:solidFill>
              <a:srgbClr val="2A3A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4023360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Antwort: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32688" y="4315968"/>
            <a:ext cx="30815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Verschlüsselung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· Diffie-Hellman · RSA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44568" y="1783080"/>
            <a:ext cx="3630168" cy="41605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44568" y="1783080"/>
            <a:ext cx="82296" cy="41605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Shape 13"/>
          <p:cNvSpPr/>
          <p:nvPr/>
        </p:nvSpPr>
        <p:spPr>
          <a:xfrm>
            <a:off x="4818888" y="2057400"/>
            <a:ext cx="566928" cy="56692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481888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04688" y="208483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Integrität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837176" y="288036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Wurde unterwegs etwas verändert?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4837176" y="3886200"/>
            <a:ext cx="3044952" cy="0"/>
          </a:xfrm>
          <a:prstGeom prst="line">
            <a:avLst/>
          </a:prstGeom>
          <a:noFill/>
          <a:ln w="12700">
            <a:solidFill>
              <a:srgbClr val="2A3A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37176" y="4023360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Antwort: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37176" y="4315968"/>
            <a:ext cx="30815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 &amp; MACs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· HMAC · Merkle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449056" y="1783080"/>
            <a:ext cx="3630168" cy="41605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449056" y="1783080"/>
            <a:ext cx="82296" cy="41605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4" name="Shape 22"/>
          <p:cNvSpPr/>
          <p:nvPr/>
        </p:nvSpPr>
        <p:spPr>
          <a:xfrm>
            <a:off x="8723376" y="2057400"/>
            <a:ext cx="566928" cy="566928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25" name="Text 23"/>
          <p:cNvSpPr/>
          <p:nvPr/>
        </p:nvSpPr>
        <p:spPr>
          <a:xfrm>
            <a:off x="872337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409176" y="208483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Authentizität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8741664" y="288036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wem rede ich überhaupt?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8741664" y="3886200"/>
            <a:ext cx="3044952" cy="0"/>
          </a:xfrm>
          <a:prstGeom prst="line">
            <a:avLst/>
          </a:prstGeom>
          <a:noFill/>
          <a:ln w="12700">
            <a:solidFill>
              <a:srgbClr val="2A3A5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41664" y="4023360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Antwort: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741664" y="4315968"/>
            <a:ext cx="30815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Signaturen &amp; Zertifikate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ECDSA · TLS · PKI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ZIELGRUPPE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 Hub, drei Eingänge — je nach Vorwissen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08792" cy="1207008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207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47672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78308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Komplett neu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24414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nie Krypto gesehen? Start ganz am Anfang.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0" y="19842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PFAD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Einleitung → Caesar → Häufigkeit → Hash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154680"/>
            <a:ext cx="10908792" cy="1207008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154680"/>
            <a:ext cx="82296" cy="1207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319272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78308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Entwickler:in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783080" y="3813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Kennst es aus dem Job, willst die Bausteine verstehen.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0" y="33558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PFAD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36118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Symm/Asymm → AES → Diffie-Hellman → TLS → OAuth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526280"/>
            <a:ext cx="10908792" cy="1207008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526280"/>
            <a:ext cx="82296" cy="1207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690872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17830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Tiefer rein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83080" y="5184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Mathe, Geschichte, Stolperfallen — das Nicht-Triviale.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669280" y="47274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PFAD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0" y="49834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Kerckhoffs → Modi → Signaturen → ECC → Post-Quantum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92608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8686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0" y="57150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LIVE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Anfassen statt anschauen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349240" cy="1783080"/>
          </a:xfrm>
          <a:prstGeom prst="rect">
            <a:avLst/>
          </a:prstGeom>
          <a:solidFill>
            <a:srgbClr val="141F38"/>
          </a:solidFill>
          <a:ln w="12700">
            <a:solidFill>
              <a:srgbClr val="24314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1783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0299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VERTRAULICHKEIT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AES — live im Browser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14400" y="2788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Zeichen im Klartext ändern → Ciphertext kippt komplett. Enter drücken → neuer IV, neuer Output.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81928" y="1828800"/>
            <a:ext cx="5349240" cy="1783080"/>
          </a:xfrm>
          <a:prstGeom prst="rect">
            <a:avLst/>
          </a:prstGeom>
          <a:solidFill>
            <a:srgbClr val="141F38"/>
          </a:solidFill>
          <a:ln w="12700">
            <a:solidFill>
              <a:srgbClr val="24314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81928" y="1828800"/>
            <a:ext cx="82296" cy="1783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6556248" y="20299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VERTRAULICHKEIT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56248" y="2331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Diffie-Hellman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56248" y="2788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Farben-Analogie + Slider: beide errechnen denselben Schlüssel, der nie übertragen wurde.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904488"/>
            <a:ext cx="5349240" cy="1783080"/>
          </a:xfrm>
          <a:prstGeom prst="rect">
            <a:avLst/>
          </a:prstGeom>
          <a:solidFill>
            <a:srgbClr val="141F38"/>
          </a:solidFill>
          <a:ln w="12700">
            <a:solidFill>
              <a:srgbClr val="24314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3904488"/>
            <a:ext cx="82296" cy="1783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INTEGRITÄT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407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SHA-256 — Avalanche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4400" y="486460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"Hallo Welt" vs. "Hallo Welt!" → ~94 % der Hash-Zeichen anders. Einweg &amp; deterministisch.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81928" y="3904488"/>
            <a:ext cx="5349240" cy="1783080"/>
          </a:xfrm>
          <a:prstGeom prst="rect">
            <a:avLst/>
          </a:prstGeom>
          <a:solidFill>
            <a:srgbClr val="141F38"/>
          </a:solidFill>
          <a:ln w="12700">
            <a:solidFill>
              <a:srgbClr val="24314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81928" y="3904488"/>
            <a:ext cx="82296" cy="17830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5" name="Text 23"/>
          <p:cNvSpPr/>
          <p:nvPr/>
        </p:nvSpPr>
        <p:spPr>
          <a:xfrm>
            <a:off x="6556248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AUTHENTIZITÄT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56248" y="4407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Digitale Signaturen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556248" y="486460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 signieren, dann beim Empfänger ein Wort ändern → Verifikation schlägt fehl.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Einstiegs-Hook: Häufigkeitsanalyse — Caesar live in Sekunden knacken.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DIDAKTISCHES KONZEPT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Warum das didaktisch funktioniert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630168" cy="402336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023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5740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 Tiefe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32688" y="36118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DepthBox: Anfänger sehen die Basics, Interessierte klappen „Warum?“, „Fehler“, „tiefer“ auf. Ein Material, mehrere Niveaus.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44568" y="1783080"/>
            <a:ext cx="3630168" cy="402336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44568" y="1783080"/>
            <a:ext cx="82296" cy="4023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4818888" y="205740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81888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18888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Belegte Aussagen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37176" y="36118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QuelleBox direkt am Ort der Aussage — FIPS, RFCs, Originalpaper. Kein Halbwissen, wissenschaftlich nachprüfbar.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449056" y="1783080"/>
            <a:ext cx="3630168" cy="402336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49056" y="1783080"/>
            <a:ext cx="82296" cy="402336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8" name="Shape 16"/>
          <p:cNvSpPr/>
          <p:nvPr/>
        </p:nvSpPr>
        <p:spPr>
          <a:xfrm>
            <a:off x="8723376" y="2057400"/>
            <a:ext cx="548640" cy="548640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19" name="Text 17"/>
          <p:cNvSpPr/>
          <p:nvPr/>
        </p:nvSpPr>
        <p:spPr>
          <a:xfrm>
            <a:off x="8723376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23376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Aktives Üben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741664" y="36118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 mit KI-Review-Prompt: erst selbst lösen, dann strukturiertes Feedback von Claude/ChatGPT zu genau diesen Konzepten.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TECHNIK &amp; ARCHITEKTUR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Unter der Haube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630168" cy="21031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2103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84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DB-frei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32688" y="253288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Inhalte sind TypeScript-Code, keine Datenbank — versioniert in Git, reviewbar wie Code.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44568" y="1783080"/>
            <a:ext cx="3630168" cy="21031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1783080"/>
            <a:ext cx="82296" cy="2103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818888" y="1984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App Router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37176" y="253288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Statisch generiert (SSG), React-Komponenten pro Lektion, strikt typisiert.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49056" y="1783080"/>
            <a:ext cx="3630168" cy="21031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49056" y="1783080"/>
            <a:ext cx="82296" cy="2103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8723376" y="1984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Additive Architektur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41664" y="253288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Neues Thema = neuer Ordner. Bestehendes bleibt unberührt, mehrere Leute parallel.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3630168" cy="21031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114800"/>
            <a:ext cx="82296" cy="2103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315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Eigenständiges Deploy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2688" y="486460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→ live auf auge2.jeremias-groehl.de, ohne manuellen Schritt.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44568" y="4114800"/>
            <a:ext cx="3630168" cy="21031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4114800"/>
            <a:ext cx="82296" cy="210312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2" name="Text 20"/>
          <p:cNvSpPr/>
          <p:nvPr/>
        </p:nvSpPr>
        <p:spPr>
          <a:xfrm>
            <a:off x="4818888" y="4315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Live-PR-Status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837176" y="486460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Pull Request erscheint automatisch als „live edit“-Badge auf der Seite.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449056" y="4114800"/>
            <a:ext cx="3630168" cy="21031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49056" y="4114800"/>
            <a:ext cx="82296" cy="21031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6" name="Text 24"/>
          <p:cNvSpPr/>
          <p:nvPr/>
        </p:nvSpPr>
        <p:spPr>
          <a:xfrm>
            <a:off x="8723376" y="4315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Wiederverwendbar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741664" y="486460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DepthBox, QuelleBox, Aufgabe, CodeBlock — geteilte Bausteine über alle Themen.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QUALITÄT &amp; WISSENSCHAFTLICHKEIT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Fachlich geprüft — nicht nur zusammengeschrieben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41605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16052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Echte Primärquellen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FIPS 197 (AES), 180-4 (SHA), 186-5 (Signaturen), 203 (Post-Quantum)</a:t>
            </a:r>
            <a:endParaRPr lang="en-US" sz="14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RFCs: TLS 1.3 (8446), OAuth (6749), HMAC (2104), Argon2 (9106)</a:t>
            </a:r>
            <a:endParaRPr lang="en-US" sz="14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Diffie–Hellman (1976), RSA (1978), Katz–Lindell (Lehrbuch)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062472" y="1783080"/>
            <a:ext cx="5486400" cy="416052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62472" y="1783080"/>
            <a:ext cx="82296" cy="41605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011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Eigener Fact-Check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309360" y="25146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haben den gesamten Inhalt gegengeprüft und dabei zwei echte Fachfehler gefunden und behoben: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309360" y="3383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Bleichenbacher: Signaturfälschung (2006) korrekt vom Entschlüsselungs-Orakel (1998/ROBOT) getrennt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ECC: ein sinnentstellender Satz (Number Field Sieve, nicht Quanten) repariert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9360" y="52578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Signal an den Prof: wir verstehen den Stoff, wir reproduzieren ihn nicht nur.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EHRLICHE GRENZEN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Kryptografie NICHT löst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des Hubs — und ein Reife-Signal: Krypto ist ein Baustein von IT-Security, nicht die ganze Lösung.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630168" cy="352044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48840"/>
            <a:ext cx="82296" cy="3520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77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✕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Endpunkte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32688" y="36118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auf dem Gerät liest mit, bevor verschlüsselt wird. Krypto schützt die Leitung, nicht den PC.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44568" y="2148840"/>
            <a:ext cx="3630168" cy="352044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44568" y="2148840"/>
            <a:ext cx="82296" cy="3520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18888" y="2377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818888" y="3063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Metadaten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37176" y="36118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mit wem wie lange redet, ist oft so aussagekräftig wie der Inhalt — und bleibt sichtbar.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449056" y="2148840"/>
            <a:ext cx="3630168" cy="3520440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49056" y="2148840"/>
            <a:ext cx="82296" cy="352044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7" name="Text 15"/>
          <p:cNvSpPr/>
          <p:nvPr/>
        </p:nvSpPr>
        <p:spPr>
          <a:xfrm>
            <a:off x="8723376" y="23774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✕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723376" y="3063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Mensch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741664" y="36118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Phishing, Social Engineering, erpresste Schlüssel — das liegt außerhalb jeder Mathematik.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 </a:t>
            </a:r>
            <a:pPr indent="0" marL="0">
              <a:buNone/>
            </a:pPr>
            <a:r>
              <a:rPr lang="en-US" sz="1250" spc="200" kern="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AUSBLICK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Hub wächst weiter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1207008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82296" cy="1207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19456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19933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Mehr als Krypto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1993392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8 Themen live (HTML/CSS, ML, Auth.js, …). Der Hub ist kein Einzelkurs, sondern eine Plattform.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0908792" cy="1207008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200400"/>
            <a:ext cx="82296" cy="1207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356616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3649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Submission-Pipeline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394960" y="3364992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Themen-Vorschläge werden halb-automatisch zu Skelett-Pull-Requests — neue Inhalte ohne Reibung.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572000"/>
            <a:ext cx="10908792" cy="1207008"/>
          </a:xfrm>
          <a:prstGeom prst="rect">
            <a:avLst/>
          </a:prstGeom>
          <a:solidFill>
            <a:srgbClr val="141F38"/>
          </a:solidFill>
          <a:ln w="12700">
            <a:solidFill>
              <a:srgbClr val="2A3A5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572000"/>
            <a:ext cx="82296" cy="1207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93776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47365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Vertiefung &amp; Pflege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394960" y="4736592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pro Thema, weitere Lektionen, Quellen ausbauen — der Hub ist gebaut zum Weiterleben.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92608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8686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0" y="57150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9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9F 3C A1 7E   0B 44 D2 8C   6E 1F B0 5A   C7 92 3D E8   41 AA 7B 09   F5 2C 88 D1   3A 6F C0 12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4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VIELEN DANK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AF1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2926080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977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Probiert es selbst:  </a:t>
            </a:r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auge2.jeremias-groehl.de/thema/kryptografie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 1]  ·  [Name 2]  ·  [Name 3]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Krypto Learning Hub</dc:title>
  <dc:subject>PptxGenJS Presentation</dc:subject>
  <dc:creator>Krypto-Team</dc:creator>
  <cp:lastModifiedBy>Krypto-Team</cp:lastModifiedBy>
  <cp:revision>1</cp:revision>
  <dcterms:created xsi:type="dcterms:W3CDTF">2026-06-15T19:57:12Z</dcterms:created>
  <dcterms:modified xsi:type="dcterms:W3CDTF">2026-06-15T19:57:12Z</dcterms:modified>
</cp:coreProperties>
</file>